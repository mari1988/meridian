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opener, ~45 seconds.</a:t>
            </a:r>
          </a:p>
          <a:p/>
          <a:p>
            <a:r>
              <a:t>The point of the slide is that the questions exist at all. Most of the room has never been asked any of the three.</a:t>
            </a:r>
          </a:p>
          <a:p/>
          <a:p>
            <a:r>
              <a:t>Say the open-source line out loud. This section is not a criticism of open tools; it is an argument for the kind of scrutiny only open tools permit. That framing carries the whole talk and heads off the reading that this is a hit piece on one vendor.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mechanic: Meridian scales media by that channel’s own median non-zero per-capita execution before the saturation curve. So x = 1.0 is "what you already run", and ec_m is denominated in multiples of your own status quo.</a:t>
            </a:r>
          </a:p>
          <a:p/>
          <a:p>
            <a:r>
              <a:t>Prior median ec_m = 0.99x current execution.</a:t>
            </a:r>
          </a:p>
          <a:p>
            <a:r>
              <a:t>P(past half-saturation today) = 50%.</a:t>
            </a:r>
          </a:p>
          <a:p>
            <a:r>
              <a:t>P(&gt;1/3 of ceiling captured today) = 92%.</a:t>
            </a:r>
          </a:p>
          <a:p>
            <a:r>
              <a:t>90% prior interval = [0.21, 2.20]x.</a:t>
            </a:r>
          </a:p>
          <a:p/>
          <a:p>
            <a:r>
              <a:t>The line: the model gives you coin-flip odds you are already past the point of diminishing returns, for every channel, regardless of audience size or how much of it you actually reach.</a:t>
            </a:r>
          </a:p>
          <a:p/>
          <a:p>
            <a:r>
              <a:t>IF ASKED "is this hidden?" — No, and do not claim it is. Google documents it: half-saturation occurs "at the median of the non-zero media units per capita across geos and time", and the truncation is justified as preserving identifiability. The point is that it is easy to miss and rarely interrogated, not that it is concealed.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Slope and half-saturation are the two parameters of the SAME curve, so this follows directly from the previous slide.</a:t>
            </a:r>
          </a:p>
          <a:p/>
          <a:p>
            <a:r>
              <a:t>slope_m is fixed, not estimated — it has no prior because it is not a random variable. Google’s stated rationale is that concave Hill curves are required so budget optimization "produces a global optimum". A legitimate engineering trade-off, and one the practitioner inherited without being asked. It forecloses exactly the effective-frequency threshold behavior most media planners believe in.</a:t>
            </a:r>
          </a:p>
          <a:p/>
          <a:p>
            <a:r>
              <a:t>The Robyn contrast is exact, not analogy — the two saturation functions are algebraically identical (verified numerically to ~1e-7 in prior_plots_check.py). Robyn searches alpha over [0.5, 3.0]. Meridian fixes it at 1. Same equation, opposite decision about whether the curve’s shape is knowable from data.</a:t>
            </a:r>
          </a:p>
          <a:p/>
          <a:p>
            <a:r>
              <a:t>READ THE RIGHT PANEL ALOUD: dots mark peak marginal return. Under the default it sits at ZERO — the model believes your first impression was your most productive one, always. At slope 2 the peak is at 0.58x today’s spend; at slope 3, 0.79x. Those build-up phases are unrepresentable at any parameter value of the default.</a:t>
            </a:r>
          </a:p>
          <a:p/>
          <a:p>
            <a:r>
              <a:t>FAIRNESS CAVEAT — say it: Meridian does let you override slope_m; it warns that doing so may break the optimizer’s global optimum. The claim is about the default and about which dimensions each tool searches by design, not that the door is locked.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THIS UP AS A DELIBERATE CONTRAST. alpha_m ~ Uniform(0,1) genuinely is flat, and Google describes it as uninformative so the data can inform decay. There is no skew story here. If the section stopped at the saturation slide it would read as tool-bashing.</a:t>
            </a:r>
          </a:p>
          <a:p/>
          <a:p>
            <a:r>
              <a:t>(a) Flat on the parameter is not flat on what you care about. Nobody decides about "alpha"; they decide about WHEN advertising works. Translated: median 50% of effect in week 0, 30% chance mostly immediate (&gt;=70% week 0), 28% chance mostly lingering (&lt;=30%). Nearly bimodal on the only question a planner would ask.</a:t>
            </a:r>
          </a:p>
          <a:p/>
          <a:p>
            <a:r>
              <a:t>(b) The binding assumption is not a prior at all. max_lag = 8 is a hard truncation in the model spec — never estimated, no prior, no posterior uncertainty. At decay 0.9, 39% of true carryover falls beyond week 8 and is discarded and renormalized away. If your TV genuinely works over a quarter, the default cannot see it, and nothing in the output tells you so.</a:t>
            </a:r>
          </a:p>
          <a:p/>
          <a:p>
            <a:r>
              <a:t>(c) Robyn bounds decay per channel type, encoding the ordinary planning knowledge that TV lingers and digital does not.</a:t>
            </a:r>
          </a:p>
          <a:p/>
          <a:p>
            <a:r>
              <a:t>THE TAXONOMY IS THE THESIS: some defaults are skewed toward a conclusion; some are flat on the parameter but misleading on the decision; some are not priors at all, but hard-coded structure wearing the costume of neutrality. Land that, then move to the TV case study.</a:t>
            </a:r>
          </a:p>
          <a:p/>
          <a:p>
            <a:r>
              <a:t>CAVEAT for any Robyn claim: Robyn is ridge regression with Nevergrad search, not Bayesian — those are search bounds, not priors. Say it before a Robyn user in the room says it for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tIns="0">
            <a:spAutoFit/>
          </a:bodyPr>
          <a:lstStyle/>
          <a:p>
            <a:pPr>
              <a:spcAft>
                <a:spcPts val="200"/>
              </a:spcAft>
              <a:defRPr sz="3000" b="1">
                <a:solidFill>
                  <a:srgbClr val="1A1A1A"/>
                </a:solidFill>
              </a:defRPr>
            </a:pPr>
            <a:r>
              <a:t>What does an MMM assume before it sees your data?</a:t>
            </a:r>
          </a:p>
          <a:p>
            <a:pPr>
              <a:spcAft>
                <a:spcPts val="600"/>
              </a:spcAft>
              <a:defRPr sz="1500" b="0">
                <a:solidFill>
                  <a:srgbClr val="5A5A5A"/>
                </a:solidFill>
              </a:defRPr>
            </a:pPr>
            <a:r>
              <a:t>Every marketing mix model commits to three answers before reading a single row.</a:t>
            </a:r>
          </a:p>
        </p:txBody>
      </p:sp>
      <p:sp>
        <p:nvSpPr>
          <p:cNvPr id="3" name="TextBox 2"/>
          <p:cNvSpPr txBox="1"/>
          <p:nvPr/>
        </p:nvSpPr>
        <p:spPr>
          <a:xfrm>
            <a:off x="822960" y="1737360"/>
            <a:ext cx="10515600" cy="3840480"/>
          </a:xfrm>
          <a:prstGeom prst="rect">
            <a:avLst/>
          </a:prstGeom>
          <a:noFill/>
        </p:spPr>
        <p:txBody>
          <a:bodyPr wrap="square" tIns="0">
            <a:spAutoFit/>
          </a:bodyPr>
          <a:lstStyle/>
          <a:p>
            <a:pPr>
              <a:spcAft>
                <a:spcPts val="200"/>
              </a:spcAft>
              <a:defRPr sz="2200" b="1">
                <a:solidFill>
                  <a:srgbClr val="2C7FB8"/>
                </a:solidFill>
              </a:defRPr>
            </a:pPr>
            <a:r>
              <a:t>1.  How fast does response flatten?</a:t>
            </a:r>
          </a:p>
          <a:p>
            <a:pPr>
              <a:spcAft>
                <a:spcPts val="2000"/>
              </a:spcAft>
              <a:defRPr sz="1500" b="0">
                <a:solidFill>
                  <a:srgbClr val="5A5A5A"/>
                </a:solidFill>
              </a:defRPr>
            </a:pPr>
            <a:r>
              <a:t>      Where is the point of diminishing returns for this channel?</a:t>
            </a:r>
          </a:p>
          <a:p>
            <a:pPr>
              <a:spcAft>
                <a:spcPts val="200"/>
              </a:spcAft>
              <a:defRPr sz="2200" b="1">
                <a:solidFill>
                  <a:srgbClr val="2C7FB8"/>
                </a:solidFill>
              </a:defRPr>
            </a:pPr>
            <a:r>
              <a:t>2.  What shape is the curve?</a:t>
            </a:r>
          </a:p>
          <a:p>
            <a:pPr>
              <a:spcAft>
                <a:spcPts val="2000"/>
              </a:spcAft>
              <a:defRPr sz="1500" b="0">
                <a:solidFill>
                  <a:srgbClr val="5A5A5A"/>
                </a:solidFill>
              </a:defRPr>
            </a:pPr>
            <a:r>
              <a:t>      Does response build before it bends, or diminish from impression one?</a:t>
            </a:r>
          </a:p>
          <a:p>
            <a:pPr>
              <a:spcAft>
                <a:spcPts val="200"/>
              </a:spcAft>
              <a:defRPr sz="2200" b="1">
                <a:solidFill>
                  <a:srgbClr val="2C7FB8"/>
                </a:solidFill>
              </a:defRPr>
            </a:pPr>
            <a:r>
              <a:t>3.  How long does an impression keep working?</a:t>
            </a:r>
          </a:p>
          <a:p>
            <a:pPr>
              <a:spcAft>
                <a:spcPts val="2000"/>
              </a:spcAft>
              <a:defRPr sz="1500" b="0">
                <a:solidFill>
                  <a:srgbClr val="5A5A5A"/>
                </a:solidFill>
              </a:defRPr>
            </a:pPr>
            <a:r>
              <a:t>      How much of the effect lands this week, and how far does it carry?</a:t>
            </a:r>
          </a:p>
          <a:p>
            <a:pPr>
              <a:spcAft>
                <a:spcPts val="1000"/>
              </a:spcAft>
              <a:defRPr sz="2000" b="1">
                <a:solidFill>
                  <a:srgbClr val="C0392B"/>
                </a:solidFill>
              </a:defRPr>
            </a:pPr>
            <a:r>
              <a:t>You are never asked these questions. They ship as defaults.</a:t>
            </a:r>
          </a:p>
          <a:p>
            <a:pPr>
              <a:spcAft>
                <a:spcPts val="600"/>
              </a:spcAft>
              <a:defRPr sz="1400" b="0">
                <a:solidFill>
                  <a:srgbClr val="5A5A5A"/>
                </a:solidFill>
              </a:defRPr>
            </a:pPr>
            <a:r>
              <a:t>We can inspect these choices only because Meridian and Robyn are open source — that is a credit to both. Every closed MMM makes the same three choices, unauditably.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tIns="0">
            <a:spAutoFit/>
          </a:bodyPr>
          <a:lstStyle/>
          <a:p>
            <a:pPr>
              <a:spcAft>
                <a:spcPts val="200"/>
              </a:spcAft>
              <a:defRPr sz="3000" b="1">
                <a:solidFill>
                  <a:srgbClr val="1A1A1A"/>
                </a:solidFill>
              </a:defRPr>
            </a:pPr>
            <a:r>
              <a:t>Assumption 1 — Saturation: the default says you are already there</a:t>
            </a:r>
          </a:p>
          <a:p>
            <a:pPr>
              <a:spcAft>
                <a:spcPts val="600"/>
              </a:spcAft>
              <a:defRPr sz="1500" b="0">
                <a:solidFill>
                  <a:srgbClr val="5A5A5A"/>
                </a:solidFill>
              </a:defRPr>
            </a:pPr>
            <a:r>
              <a:t>Meridian scales each channel by its own median execution first, so "1.0" on the model’s x-axis means "what you already run".</a:t>
            </a:r>
          </a:p>
        </p:txBody>
      </p:sp>
      <p:pic>
        <p:nvPicPr>
          <p:cNvPr id="3" name="Picture 2" descr="section1_saturation.png"/>
          <p:cNvPicPr>
            <a:picLocks noChangeAspect="1"/>
          </p:cNvPicPr>
          <p:nvPr/>
        </p:nvPicPr>
        <p:blipFill>
          <a:blip r:embed="rId2"/>
          <a:stretch>
            <a:fillRect/>
          </a:stretch>
        </p:blipFill>
        <p:spPr>
          <a:xfrm>
            <a:off x="1680291" y="1417320"/>
            <a:ext cx="8831112" cy="3657600"/>
          </a:xfrm>
          <a:prstGeom prst="rect">
            <a:avLst/>
          </a:prstGeom>
        </p:spPr>
      </p:pic>
      <p:sp>
        <p:nvSpPr>
          <p:cNvPr id="4" name="TextBox 3"/>
          <p:cNvSpPr txBox="1"/>
          <p:nvPr/>
        </p:nvSpPr>
        <p:spPr>
          <a:xfrm>
            <a:off x="548640" y="5212080"/>
            <a:ext cx="11064240" cy="1188720"/>
          </a:xfrm>
          <a:prstGeom prst="rect">
            <a:avLst/>
          </a:prstGeom>
          <a:noFill/>
        </p:spPr>
        <p:txBody>
          <a:bodyPr wrap="square" tIns="0">
            <a:spAutoFit/>
          </a:bodyPr>
          <a:lstStyle/>
          <a:p>
            <a:pPr>
              <a:spcAft>
                <a:spcPts val="600"/>
              </a:spcAft>
              <a:defRPr sz="1400" b="1">
                <a:solidFill>
                  <a:srgbClr val="C0392B"/>
                </a:solidFill>
              </a:defRPr>
            </a:pPr>
            <a:r>
              <a:t>Out of the box: 50% odds you are already past half-saturation, and 92% odds you have captured more than a third of the channel’s maximum effect — applied identically to every channel, whatever its audience or reach.</a:t>
            </a:r>
          </a:p>
          <a:p>
            <a:pPr>
              <a:spcAft>
                <a:spcPts val="600"/>
              </a:spcAft>
              <a:defRPr sz="1200" b="0">
                <a:solidFill>
                  <a:srgbClr val="5A5A5A"/>
                </a:solidFill>
              </a:defRPr>
            </a:pPr>
            <a:r>
              <a:t>Robyn makes the same category of choice: its gamma plays this role and is searched over [0.3, 1], also identically across channels.</a:t>
            </a:r>
          </a:p>
        </p:txBody>
      </p:sp>
      <p:sp>
        <p:nvSpPr>
          <p:cNvPr id="5" name="TextBox 4"/>
          <p:cNvSpPr txBox="1"/>
          <p:nvPr/>
        </p:nvSpPr>
        <p:spPr>
          <a:xfrm>
            <a:off x="548640" y="6446520"/>
            <a:ext cx="11064240" cy="320040"/>
          </a:xfrm>
          <a:prstGeom prst="rect">
            <a:avLst/>
          </a:prstGeom>
          <a:noFill/>
        </p:spPr>
        <p:txBody>
          <a:bodyPr wrap="square" tIns="0">
            <a:spAutoFit/>
          </a:bodyPr>
          <a:lstStyle/>
          <a:p>
            <a:pPr>
              <a:spcAft>
                <a:spcPts val="600"/>
              </a:spcAft>
              <a:defRPr sz="900" b="0">
                <a:solidFill>
                  <a:srgbClr val="5A5A5A"/>
                </a:solidFill>
              </a:defRPr>
            </a:pPr>
            <a:r>
              <a:t>ec_m ~ TruncatedNormal(0.8, 0.8, [0.1, 10]).  https://developers.google.com/meridian/docs/advanced-modeling/default-prior-distributions#ec_m_and_ec_om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tIns="0">
            <a:spAutoFit/>
          </a:bodyPr>
          <a:lstStyle/>
          <a:p>
            <a:pPr>
              <a:spcAft>
                <a:spcPts val="200"/>
              </a:spcAft>
              <a:defRPr sz="3000" b="1">
                <a:solidFill>
                  <a:srgbClr val="1A1A1A"/>
                </a:solidFill>
              </a:defRPr>
            </a:pPr>
            <a:r>
              <a:t>Assumption 2 — Slope: the parameter that is never estimated</a:t>
            </a:r>
          </a:p>
          <a:p>
            <a:pPr>
              <a:spcAft>
                <a:spcPts val="600"/>
              </a:spcAft>
              <a:defRPr sz="1500" b="0">
                <a:solidFill>
                  <a:srgbClr val="5A5A5A"/>
                </a:solidFill>
              </a:defRPr>
            </a:pPr>
            <a:r>
              <a:t>slope_m = Deterministic(1.0). It has no prior, because it is not a random variable.</a:t>
            </a:r>
          </a:p>
        </p:txBody>
      </p:sp>
      <p:pic>
        <p:nvPicPr>
          <p:cNvPr id="3" name="Picture 2" descr="section1_slope.png"/>
          <p:cNvPicPr>
            <a:picLocks noChangeAspect="1"/>
          </p:cNvPicPr>
          <p:nvPr/>
        </p:nvPicPr>
        <p:blipFill>
          <a:blip r:embed="rId2"/>
          <a:stretch>
            <a:fillRect/>
          </a:stretch>
        </p:blipFill>
        <p:spPr>
          <a:xfrm>
            <a:off x="1678618" y="1417320"/>
            <a:ext cx="8834459" cy="3657600"/>
          </a:xfrm>
          <a:prstGeom prst="rect">
            <a:avLst/>
          </a:prstGeom>
        </p:spPr>
      </p:pic>
      <p:sp>
        <p:nvSpPr>
          <p:cNvPr id="4" name="TextBox 3"/>
          <p:cNvSpPr txBox="1"/>
          <p:nvPr/>
        </p:nvSpPr>
        <p:spPr>
          <a:xfrm>
            <a:off x="548640" y="5212080"/>
            <a:ext cx="11064240" cy="1188720"/>
          </a:xfrm>
          <a:prstGeom prst="rect">
            <a:avLst/>
          </a:prstGeom>
          <a:noFill/>
        </p:spPr>
        <p:txBody>
          <a:bodyPr wrap="square" tIns="0">
            <a:spAutoFit/>
          </a:bodyPr>
          <a:lstStyle/>
          <a:p>
            <a:pPr>
              <a:spcAft>
                <a:spcPts val="600"/>
              </a:spcAft>
              <a:defRPr sz="1400" b="1">
                <a:solidFill>
                  <a:srgbClr val="C0392B"/>
                </a:solidFill>
              </a:defRPr>
            </a:pPr>
            <a:r>
              <a:t>Fixing the slope at 1 means diminishing returns from the very first impression — no build-up, no threshold effect. The stated reason is tractability, not advertising: concave curves guarantee the budget optimizer a global optimum.</a:t>
            </a:r>
          </a:p>
          <a:p>
            <a:pPr>
              <a:spcAft>
                <a:spcPts val="600"/>
              </a:spcAft>
              <a:defRPr sz="1200" b="0">
                <a:solidFill>
                  <a:srgbClr val="5A5A5A"/>
                </a:solidFill>
              </a:defRPr>
            </a:pPr>
            <a:r>
              <a:t>Identical Hill equation in both tools (gamma ≡ ec_m, alpha ≡ slope_m). Robyn searches alpha over [0.5, 3.0], spanning C- through S-shape; Meridian fixes it at 1.</a:t>
            </a:r>
          </a:p>
        </p:txBody>
      </p:sp>
      <p:sp>
        <p:nvSpPr>
          <p:cNvPr id="5" name="TextBox 4"/>
          <p:cNvSpPr txBox="1"/>
          <p:nvPr/>
        </p:nvSpPr>
        <p:spPr>
          <a:xfrm>
            <a:off x="548640" y="6446520"/>
            <a:ext cx="11064240" cy="320040"/>
          </a:xfrm>
          <a:prstGeom prst="rect">
            <a:avLst/>
          </a:prstGeom>
          <a:noFill/>
        </p:spPr>
        <p:txBody>
          <a:bodyPr wrap="square" tIns="0">
            <a:spAutoFit/>
          </a:bodyPr>
          <a:lstStyle/>
          <a:p>
            <a:pPr>
              <a:spcAft>
                <a:spcPts val="600"/>
              </a:spcAft>
              <a:defRPr sz="900" b="0">
                <a:solidFill>
                  <a:srgbClr val="5A5A5A"/>
                </a:solidFill>
              </a:defRPr>
            </a:pPr>
            <a:r>
              <a:t>Meridian: hill(x) = x^slope / (x^slope + ec^slope).   Robyn: saturated = 1 / (1 + (gamma/adstocked)^alpha).   https://facebookexperimental.github.io/Robyn/docs/analysts-guide-to-MMM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tIns="0">
            <a:spAutoFit/>
          </a:bodyPr>
          <a:lstStyle/>
          <a:p>
            <a:pPr>
              <a:spcAft>
                <a:spcPts val="200"/>
              </a:spcAft>
              <a:defRPr sz="3000" b="1">
                <a:solidFill>
                  <a:srgbClr val="1A1A1A"/>
                </a:solidFill>
              </a:defRPr>
            </a:pPr>
            <a:r>
              <a:t>Assumption 3 — Adstock: flat is not neutral, and the real assumption is not a prior</a:t>
            </a:r>
          </a:p>
          <a:p>
            <a:pPr>
              <a:spcAft>
                <a:spcPts val="600"/>
              </a:spcAft>
              <a:defRPr sz="1500" b="0">
                <a:solidFill>
                  <a:srgbClr val="5A5A5A"/>
                </a:solidFill>
              </a:defRPr>
            </a:pPr>
            <a:r>
              <a:t>alpha_m ~ Uniform(0, 1) genuinely is flat. The problem is elsewhere.</a:t>
            </a:r>
          </a:p>
        </p:txBody>
      </p:sp>
      <p:pic>
        <p:nvPicPr>
          <p:cNvPr id="3" name="Picture 2" descr="section1_adstock.png"/>
          <p:cNvPicPr>
            <a:picLocks noChangeAspect="1"/>
          </p:cNvPicPr>
          <p:nvPr/>
        </p:nvPicPr>
        <p:blipFill>
          <a:blip r:embed="rId2"/>
          <a:stretch>
            <a:fillRect/>
          </a:stretch>
        </p:blipFill>
        <p:spPr>
          <a:xfrm>
            <a:off x="1678618" y="1417320"/>
            <a:ext cx="8834459" cy="3657600"/>
          </a:xfrm>
          <a:prstGeom prst="rect">
            <a:avLst/>
          </a:prstGeom>
        </p:spPr>
      </p:pic>
      <p:sp>
        <p:nvSpPr>
          <p:cNvPr id="4" name="TextBox 3"/>
          <p:cNvSpPr txBox="1"/>
          <p:nvPr/>
        </p:nvSpPr>
        <p:spPr>
          <a:xfrm>
            <a:off x="548640" y="5212080"/>
            <a:ext cx="11064240" cy="1463040"/>
          </a:xfrm>
          <a:prstGeom prst="rect">
            <a:avLst/>
          </a:prstGeom>
          <a:noFill/>
        </p:spPr>
        <p:txBody>
          <a:bodyPr wrap="square" tIns="0">
            <a:spAutoFit/>
          </a:bodyPr>
          <a:lstStyle/>
          <a:p>
            <a:pPr>
              <a:spcAft>
                <a:spcPts val="400"/>
              </a:spcAft>
              <a:defRPr sz="1400" b="1">
                <a:solidFill>
                  <a:srgbClr val="C0392B"/>
                </a:solidFill>
              </a:defRPr>
            </a:pPr>
            <a:r>
              <a:t>Flat on the parameter is not flat on the decision: the implied share of effect landing in week 0 has median 50%, with a 30% chance it is mostly immediate and a 28% chance it mostly lingers.</a:t>
            </a:r>
          </a:p>
          <a:p>
            <a:pPr>
              <a:spcAft>
                <a:spcPts val="400"/>
              </a:spcAft>
              <a:defRPr sz="1400" b="1">
                <a:solidFill>
                  <a:srgbClr val="C0392B"/>
                </a:solidFill>
              </a:defRPr>
            </a:pPr>
            <a:r>
              <a:t>And the binding assumption is not a prior at all: max_lag = 8 is a hard truncation, never estimated. At a decay rate of 0.9, 39% of true carryover falls beyond week 8 and is discarded.</a:t>
            </a:r>
          </a:p>
          <a:p>
            <a:pPr>
              <a:spcAft>
                <a:spcPts val="600"/>
              </a:spcAft>
              <a:defRPr sz="1200" b="0">
                <a:solidFill>
                  <a:srgbClr val="5A5A5A"/>
                </a:solidFill>
              </a:defRPr>
            </a:pPr>
            <a:r>
              <a:t>Robyn bounds decay per channel type — TV [0.3, 0.8], OOH/print/radio [0.1, 0.4], digital [0, 0.3]. Meridian applies one Uniform(0, 1) to every channel.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